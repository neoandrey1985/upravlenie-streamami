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314" r:id="rId65"/>
    <p:sldId id="315" r:id="rId66"/>
    <p:sldId id="327" r:id="rId78"/>
    <p:sldId id="328" r:id="rId79"/>
    <p:sldId id="329" r:id="rId80"/>
    <p:sldId id="316" r:id="rId67"/>
    <p:sldId id="317" r:id="rId68"/>
    <p:sldId id="324" r:id="rId75"/>
    <p:sldId id="325" r:id="rId76"/>
    <p:sldId id="318" r:id="rId69"/>
    <p:sldId id="319" r:id="rId70"/>
    <p:sldId id="320" r:id="rId71"/>
    <p:sldId id="321" r:id="rId72"/>
    <p:sldId id="322" r:id="rId73"/>
    <p:sldId id="323" r:id="rId74"/>
    <p:sldId id="326" r:id="rId77"/>
    <p:sldId id="258" r:id="rId4"/>
    <p:sldId id="259" r:id="rId5"/>
    <p:sldId id="260" r:id="rId6"/>
    <p:sldId id="261" r:id="rId7"/>
    <p:sldId id="262" r:id="rId8"/>
    <p:sldId id="294" r:id="rId9"/>
    <p:sldId id="295" r:id="rId10"/>
    <p:sldId id="263" r:id="rId11"/>
    <p:sldId id="264" r:id="rId12"/>
    <p:sldId id="309" r:id="rId60"/>
    <p:sldId id="310" r:id="rId61"/>
    <p:sldId id="311" r:id="rId62"/>
    <p:sldId id="312" r:id="rId63"/>
    <p:sldId id="313" r:id="rId64"/>
    <p:sldId id="265" r:id="rId13"/>
    <p:sldId id="266" r:id="rId14"/>
    <p:sldId id="267" r:id="rId15"/>
    <p:sldId id="268" r:id="rId16"/>
    <p:sldId id="269" r:id="rId17"/>
    <p:sldId id="330" r:id="rId81"/>
    <p:sldId id="270" r:id="rId18"/>
    <p:sldId id="296" r:id="rId19"/>
    <p:sldId id="297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6"/>
    <p:sldId id="306" r:id="rId57"/>
    <p:sldId id="307" r:id="rId58"/>
    <p:sldId id="308" r:id="rId59"/>
    <p:sldId id="29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19.xml"/><Relationship Id="rId5" Type="http://schemas.openxmlformats.org/officeDocument/2006/relationships/slide" Target="slides/slide20.xml"/><Relationship Id="rId6" Type="http://schemas.openxmlformats.org/officeDocument/2006/relationships/slide" Target="slides/slide21.xml"/><Relationship Id="rId7" Type="http://schemas.openxmlformats.org/officeDocument/2006/relationships/slide" Target="slides/slide22.xml"/><Relationship Id="rId8" Type="http://schemas.openxmlformats.org/officeDocument/2006/relationships/slide" Target="slides/slide23.xml"/><Relationship Id="rId9" Type="http://schemas.openxmlformats.org/officeDocument/2006/relationships/slide" Target="slides/slide24.xml"/><Relationship Id="rId10" Type="http://schemas.openxmlformats.org/officeDocument/2006/relationships/slide" Target="slides/slide25.xml"/><Relationship Id="rId11" Type="http://schemas.openxmlformats.org/officeDocument/2006/relationships/slide" Target="slides/slide26.xml"/><Relationship Id="rId12" Type="http://schemas.openxmlformats.org/officeDocument/2006/relationships/slide" Target="slides/slide27.xml"/><Relationship Id="rId13" Type="http://schemas.openxmlformats.org/officeDocument/2006/relationships/slide" Target="slides/slide33.xml"/><Relationship Id="rId14" Type="http://schemas.openxmlformats.org/officeDocument/2006/relationships/slide" Target="slides/slide34.xml"/><Relationship Id="rId15" Type="http://schemas.openxmlformats.org/officeDocument/2006/relationships/slide" Target="slides/slide35.xml"/><Relationship Id="rId16" Type="http://schemas.openxmlformats.org/officeDocument/2006/relationships/slide" Target="slides/slide36.xml"/><Relationship Id="rId17" Type="http://schemas.openxmlformats.org/officeDocument/2006/relationships/slide" Target="slides/slide37.xml"/><Relationship Id="rId18" Type="http://schemas.openxmlformats.org/officeDocument/2006/relationships/slide" Target="slides/slide39.xml"/><Relationship Id="rId19" Type="http://schemas.openxmlformats.org/officeDocument/2006/relationships/slide" Target="slides/slide40.xml"/><Relationship Id="rId20" Type="http://schemas.openxmlformats.org/officeDocument/2006/relationships/slide" Target="slides/slide41.xml"/><Relationship Id="rId21" Type="http://schemas.openxmlformats.org/officeDocument/2006/relationships/slide" Target="slides/slide42.xml"/><Relationship Id="rId22" Type="http://schemas.openxmlformats.org/officeDocument/2006/relationships/slide" Target="slides/slide43.xml"/><Relationship Id="rId23" Type="http://schemas.openxmlformats.org/officeDocument/2006/relationships/slide" Target="slides/slide44.xml"/><Relationship Id="rId24" Type="http://schemas.openxmlformats.org/officeDocument/2006/relationships/slide" Target="slides/slide45.xml"/><Relationship Id="rId25" Type="http://schemas.openxmlformats.org/officeDocument/2006/relationships/slide" Target="slides/slide46.xml"/><Relationship Id="rId26" Type="http://schemas.openxmlformats.org/officeDocument/2006/relationships/slide" Target="slides/slide47.xml"/><Relationship Id="rId27" Type="http://schemas.openxmlformats.org/officeDocument/2006/relationships/slide" Target="slides/slide48.xml"/><Relationship Id="rId28" Type="http://schemas.openxmlformats.org/officeDocument/2006/relationships/slide" Target="slides/slide49.xml"/><Relationship Id="rId29" Type="http://schemas.openxmlformats.org/officeDocument/2006/relationships/slide" Target="slides/slide50.xml"/><Relationship Id="rId30" Type="http://schemas.openxmlformats.org/officeDocument/2006/relationships/slide" Target="slides/slide51.xml"/><Relationship Id="rId31" Type="http://schemas.openxmlformats.org/officeDocument/2006/relationships/slide" Target="slides/slide52.xml"/><Relationship Id="rId32" Type="http://schemas.openxmlformats.org/officeDocument/2006/relationships/slide" Target="slides/slide53.xml"/><Relationship Id="rId33" Type="http://schemas.openxmlformats.org/officeDocument/2006/relationships/slide" Target="slides/slide54.xml"/><Relationship Id="rId34" Type="http://schemas.openxmlformats.org/officeDocument/2006/relationships/slide" Target="slides/slide55.xml"/><Relationship Id="rId35" Type="http://schemas.openxmlformats.org/officeDocument/2006/relationships/slide" Target="slides/slide56.xml"/><Relationship Id="rId36" Type="http://schemas.openxmlformats.org/officeDocument/2006/relationships/slide" Target="slides/slide57.xml"/><Relationship Id="rId37" Type="http://schemas.openxmlformats.org/officeDocument/2006/relationships/slide" Target="slides/slide58.xml"/><Relationship Id="rId38" Type="http://schemas.openxmlformats.org/officeDocument/2006/relationships/slide" Target="slides/slide59.xml"/><Relationship Id="rId39" Type="http://schemas.openxmlformats.org/officeDocument/2006/relationships/slide" Target="slides/slide60.xml"/><Relationship Id="rId40" Type="http://schemas.openxmlformats.org/officeDocument/2006/relationships/slide" Target="slides/slide61.xml"/><Relationship Id="rId41" Type="http://schemas.openxmlformats.org/officeDocument/2006/relationships/slide" Target="slides/slide62.xml"/><Relationship Id="rId42" Type="http://schemas.openxmlformats.org/officeDocument/2006/relationships/slide" Target="slides/slide63.xml"/><Relationship Id="rId43" Type="http://schemas.openxmlformats.org/officeDocument/2006/relationships/slide" Target="slides/slide64.xml"/><Relationship Id="rId44" Type="http://schemas.openxmlformats.org/officeDocument/2006/relationships/slide" Target="slides/slide65.xml"/><Relationship Id="rId45" Type="http://schemas.openxmlformats.org/officeDocument/2006/relationships/slide" Target="slides/slide66.xml"/><Relationship Id="rId46" Type="http://schemas.openxmlformats.org/officeDocument/2006/relationships/slide" Target="slides/slide67.xml"/><Relationship Id="rId47" Type="http://schemas.openxmlformats.org/officeDocument/2006/relationships/slide" Target="slides/slide68.xml"/><Relationship Id="rId48" Type="http://schemas.openxmlformats.org/officeDocument/2006/relationships/slide" Target="slides/slide69.xml"/><Relationship Id="rId49" Type="http://schemas.openxmlformats.org/officeDocument/2006/relationships/slide" Target="slides/slide70.xml"/><Relationship Id="rId50" Type="http://schemas.openxmlformats.org/officeDocument/2006/relationships/slide" Target="slides/slide75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Relationship Id="rId56" Type="http://schemas.openxmlformats.org/officeDocument/2006/relationships/slide" Target="slides/slide71.xml"/><Relationship Id="rId57" Type="http://schemas.openxmlformats.org/officeDocument/2006/relationships/slide" Target="slides/slide72.xml"/><Relationship Id="rId58" Type="http://schemas.openxmlformats.org/officeDocument/2006/relationships/slide" Target="slides/slide73.xml"/><Relationship Id="rId59" Type="http://schemas.openxmlformats.org/officeDocument/2006/relationships/slide" Target="slides/slide74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8.xml"/><Relationship Id="rId68" Type="http://schemas.openxmlformats.org/officeDocument/2006/relationships/slide" Target="slides/slide9.xml"/><Relationship Id="rId69" Type="http://schemas.openxmlformats.org/officeDocument/2006/relationships/slide" Target="slides/slide12.xml"/><Relationship Id="rId70" Type="http://schemas.openxmlformats.org/officeDocument/2006/relationships/slide" Target="slides/slide13.xml"/><Relationship Id="rId71" Type="http://schemas.openxmlformats.org/officeDocument/2006/relationships/slide" Target="slides/slide14.xml"/><Relationship Id="rId72" Type="http://schemas.openxmlformats.org/officeDocument/2006/relationships/slide" Target="slides/slide15.xml"/><Relationship Id="rId73" Type="http://schemas.openxmlformats.org/officeDocument/2006/relationships/slide" Target="slides/slide16.xml"/><Relationship Id="rId74" Type="http://schemas.openxmlformats.org/officeDocument/2006/relationships/slide" Target="slides/slide17.xml"/><Relationship Id="rId75" Type="http://schemas.openxmlformats.org/officeDocument/2006/relationships/slide" Target="slides/slide10.xml"/><Relationship Id="rId76" Type="http://schemas.openxmlformats.org/officeDocument/2006/relationships/slide" Target="slides/slide11.xml"/><Relationship Id="rId77" Type="http://schemas.openxmlformats.org/officeDocument/2006/relationships/slide" Target="slides/slide18.xml"/><Relationship Id="rId78" Type="http://schemas.openxmlformats.org/officeDocument/2006/relationships/slide" Target="slides/slide5.xml"/><Relationship Id="rId79" Type="http://schemas.openxmlformats.org/officeDocument/2006/relationships/slide" Target="slides/slide6.xml"/><Relationship Id="rId80" Type="http://schemas.openxmlformats.org/officeDocument/2006/relationships/slide" Target="slides/slide7.xml"/><Relationship Id="rId81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98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Обзор веб-приложения «Управление кросс-функциональной командой». Полиглот-стек: Java (Spring Boot) + Python (FastAPI) +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Определение кросс-функциональной команды — центральная концепция приложения.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Приложение покрывает весь цикл планирования спринта: бэклог, дорожная карта, RICE, Гант, зависимости, аналитика, риски, релизы и настройки.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Дашборд. Сводка проекта одним взглядом. KPI с RAG-подсветкой: health, velocity, TTM, DoD, баги, остаток. Блок «Что требует внимания»: блокеры, перегруз, критичные баги. Кликабельные карточки и sparkline-тренды. Графики ёмкости, velocity, багов и Time to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Дорожная карта. Спринты считаются автоматически. Даты, рабочие дни, ёмкость, план, velocity, % выполнения. Источники — «Параметры» и состав «Команды». Диаграмма процента выполнения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Кварталы. Агрегация по календарным кварталам. Ёмкость, план, velocity, загрузка и % по кварталам. Квартальный roadmap: спринты на шкале дат. Ключевые вехи подтягиваются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RICE — приоритизация. Что делать в первую очередь. RICE = (Reach × Impact × Confidence) / Effort. Авто-расчёт балла, ранга и приоритета (RAG). Фичи выбираются напрямую из «Бэклога» — с автозаполнением и связью-ссылкой.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 — приоритизация. Что обязательно, а что подождёт. Доска из 4 колонок: Must / Should / Could / Won't. Требования выбираются напрямую из «Бэклога» — с автозаполнением. Правило баланса: доля Must ≤ ~60% ёмкости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Доска — интерактивный бесконечный холст. Совместная работа как в Miro. Бесконечный холст: стикеры (с автором и голосованием), текст, фигуры, стрелки-связи, карандаш, изображения, фреймы. Живая совместная работа: курсоры участников, присутствие «● вживую» и синхронизация в реальном времени (WebSocket); доска хранится в общей БД. Интеграции Slack и Jira; фасилитация: таймер; экспорт доски в PNG и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Kanban-доски по направлениям. Отдельные доски: Backend, Frontend, Тестировщики, Аналитики и релизная. Вкладки досок по ролям + «Все задачи» и «Релизная доска». Перетаскивание карточки меняет статус и даты; синхронно с Бэклогом, Гантом и аналитикой. Администратор создаёт доски, переименовывает и добавляет колонки-статусы.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Релизная доска: состав и прогресс. Двусторонняя связь с разделом «Релизы». На карточке релиза — его состав (стори, задачи, дефекты) и прогресс-бар готовности. Статус меняется перетаскиванием и синхронно отражается в «Релизах». Подсказка «можно закрыть релиз», когда все задачи готовы.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Состав релизов: ручное формирование. Явная привязка задач к релизу перетаскиванием. Колонки — релизы (+ «Без релиза»); задача перетаскивается в нужный релиз. Поле «Релиз» у задачи в «Бэклоге» — альтернатива авто-расчёту; кнопка «＋ Релиз». «Проверки данных» ловят пересечения и пропуски диапазонов спринтов.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Бэклог. Источник данных для всех метрик. Редактируемые задачи: тип, оценка, статус, спринт. Поиск, сортировка по колонкам, строка итогов. Отмена удаления; зависимость выбирается из списка.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Диаграмма Ганта. Задачи на шкале дат по спринтам. Красная рамка — критический путь (CPM). Ромбовидный маркер — внешняя зависимость от стрима. Редактирование спринта и зависимостей на месте.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Зависимости. Связи с другими стримами. Задачи, истории и фичи, зависящие от смежных команд. Направление, статус с RAG-подсветкой, риск, владелец. Сводка по статусам/стримам и список для эскалации.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Команда. Основа расчёта ёмкости. Состав команды и доступность каждого участника. Из этого считается ёмкость каждого спринта. Роли: Backend, Frontend, QA, DevOps, Analyst, 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Релизы. Версии по диапазону спринтов. Содержимое считается из «Бэклога» и «Багов». Раскрытие строки в список стори, задач и дефектов. Ссылки-переходы к задачам и багам релиза.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FAQ — справка. Ответы на частые вопросы. Аккордеон вопросов с поиском по 4 категориям. Редактируемая таблица: админ и редактор наполняют FAQ. Те же данные выгружаются на лист FAQ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Помощник (чат-бот). Встроенный ассистент по приложению. Отвечает по живым данным: velocity, health, баги, зависимости, бюджет. Подсказывает «что требует внимания», объясняет RICE и MoSCoW, ищет по FAQ. Открывает нужный раздел; выполняет команды; работает офлайн.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Журнал событий и логирование. Все события — в отдельной базе PostgreSQL. «История изменений» (версии приложения) — видна всем. Полный журнал: вход, изменения, отказы доступа — администратору. Логирование в отдельную БД, изолированно и отказоустойчиво.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 спринта (Sprint Review). Демонстрация инкремента заказчикам. Что показывали, докладчик и участники; обратная связь. Итог: принято / на доработку / отклонено (с KPI приёмки). Результаты влияют на приоритеты бэклога и следующий спринт.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Отчёт-презентация по спринту (PPTX). Готовый отчёт по спринту в один клик. Кнопка «📊 Отчёт» → выбор спринта: конкретный или весь проект. Титул, ключевые метрики и все диаграммы приложения: аналитика (сгорание, CFD, cycle time, распределение, загрузка), риски, Гант, Исикава, OKR, RICE. Для выбранного спринта — его метрики и список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 Map — компетенции команды. Карта навыков в привязке к ролям. Радар-профиль каждого участника по компетенциям его роли (уровни 1–5). Матрица компетенций по направлениям (Backend/Frontend/QA/DevOps/Analyst/Designer) с тепловой заливкой. Кнопка «Обновить компетенции по ролям» формирует набор навыков автоматически; уровни редактируются.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Уровень Agile-зрелости. Самооценка по Scrum, Kanban и SAFe. Вкладки по трём фреймворкам; для каждого — измерения на шкале 1–5 (Начальный…Оптимизирующий). Сводный уровень, профиль-радар, слабое место и рекомендации к следующему уровню. Оценки редактируются и сохраняются (в серверном режиме — в БД).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отчёт — разведочный анализ. Обзор «здоровья» всех данных приложения. Объём и полнота датасетов, сводная числовая статистика (мин/макс/среднее/медиана/σ). Распределения категорий, кросс-таблица «спринт × статус», аномалии и качество данных. Печать/PDF; данные не нужно выгружать в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Интеграции со всеми продуктами Atlassian. Единый каталог интеграций Atlassian. Jira, Jira Service Management, Jira Product Discovery, Confluence, Compass, Bitbucket, Trello, Opsgenie, Statuspage, Bamboo. Статус подключения по каждому продукту и проверка одним нажатием; действия выполняются на сервере. Ключи задаются переменными окружения; Jira/JSM/JPD/Confluence/Compass используют один аккаунт Atlassian.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Вехи и технический долг. Контрольные точки и управление техдолгом. Вехи: привязка к спринтам и релизам, статус. Техдолг: реестр и тренд «создано / погашено»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Аналитика. Единый расчётный движок метрик. Сгорание, burn-up, CFD, cycle time (контрольная карта). Распределение, загрузка по ролям, ёмкость по кварталам. Прогноз Монте-Карло, предсказуемость (CV), DRE, качество.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Риски. Оценка и анализ причин. Балл = Вероятность × Влияние; уровень — авто. Матрица рисков 5×5 с ранжированием. Диаграмма Исикавы причин срыва сроков спринта.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Баги и ретроспективы. Качество и улучшение процесса. Баги: серьёзность, статус, причина; питают метрику DRE. Ретроспективы: итоги спринтов и action items. Процент закрытия action items по спринтам.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Цели, бюджет и настройки. Цели квартала, стоимость и базовые параметры. OKR: цели и прогресс Key Results. Бюджет: стоимость по ёмкости и накопленный расход. Параметры: старт, focus factor, DoD; календарь праздников.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Роли и доступ (серверная авторизация). Настоящая серверная авторизация и разграничение прав. Вход по логину и паролю; роли хранятся в PostgreSQL (PBKDF2-хэши, bearer-сессии). Права проверяются в Java на каждый запрос: чтение — любой вошедший, запись — Редактор/Администратор. Администратор управляет учётными записями: добавление, смена роли и пароля, отключение, удаление.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Scrum-церемонии: Дэйли и Груминг. Ежедневная синхронизация и подготовка бэклога. Дэйли: что сделано вчера, план на сегодня и блокеры — по дням и участникам. Груминг: оценка, декомпозиция, уточнение и приоритизация (Definition of Ready). Вместе с «Демо» и «Ретроспективами» — полный набор Scrum-церемоний.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Персонал: отпуска и дни рождения. Доступность команды и важные даты. График отпусков: отпуска, больничные, отгулы и командировки — для учёта доступности. Дни рождения: даты участников команды и ближайшие праздники.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Автоматизация планирования. Приложение берёт на себя рутину — от наполнения спринта до контроля качества данных. Бэклог: приоритет (RICE/MoSCoW) и флаг готовности (DoR) прямо в задаче; авто-набор спринта по ёмкости. Отпуска уменьшают ёмкость; итоги церемоний → задачи; циклы и конфликты зависимостей помечаются на Ганте. Импорт из CSV/Jira, авто-предложение отчёта при завершении спринта; помощник выполняет команды.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Ретроспективы: игровые практики Agile. Геймификация ретро для вовлечённости и реальных улучшений. Форматы (Start/Stop/Continue, Sailboat, 4L, Starfish, DAKI), dot-voting и стрик action items. Настроение команды по спринтам, Kudos (благодарности) и эксперименты как проверяемые гипотезы. Team Radar — радар-диаграмма самооценки команды по осям.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Java Spring Boot — ядро (REST API, CRUD, PostgreSQL). Python FastAPI — аналитика. nginx reverse-proxy. docker-compose, CI из трёх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Единый инструмент планирования спринтов: от бэклога до аналитики, с общей БД, живой совместной работой и интеграциями.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jpg"/><Relationship Id="rId4" Type="http://schemas.openxmlformats.org/officeDocument/2006/relationships/image" Target="../media/image3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Relationship Id="rId4" Type="http://schemas.openxmlformats.org/officeDocument/2006/relationships/image" Target="../media/image44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Relationship Id="rId4" Type="http://schemas.openxmlformats.org/officeDocument/2006/relationships/image" Target="../media/image45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0584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Управление стримами и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606040"/>
            <a:ext cx="5669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AFC2E6"/>
                </a:solidFill>
                <a:latin typeface="Calibri"/>
              </a:rPr>
              <a:t>Веб-приложение для agile-планирования стримов из нескольких кросс-функциональных команд: данные команд, уровень стрима, метрики и диаграммы в одном месте.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Java ·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3288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Python ·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7" y="3611880"/>
            <a:ext cx="1783080" cy="457200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150" b="1" i="0">
                <a:solidFill>
                  <a:srgbClr val="CFE0FF"/>
                </a:solidFill>
                <a:latin typeface="Calibri"/>
              </a:rPr>
              <a:t>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1206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7C90B4"/>
                </a:solidFill>
                <a:latin typeface="Calibri"/>
              </a:rPr>
              <a:t>Обзор приложения</a:t>
            </a:r>
          </a:p>
        </p:txBody>
      </p:sp>
      <p:pic>
        <p:nvPicPr>
          <p:cNvPr id="8" name="Picture 7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371600"/>
            <a:ext cx="5166360" cy="2906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Кросс-функциональная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Кросс-функциональная команда — это группа специалистов из разных областей (разработчиков, дизайнеров, маркетологов, аналитиков, менеджеров и других), которые объединяются для работы над одним конкретным проектом или задачей.</a:t>
            </a:r>
          </a:p>
          <a:p>
            <a:pPr algn="l">
              <a:spcBef>
                <a:spcPts val="0"/>
              </a:spcBef>
            </a:pPr>
            <a:r>
              <a:rPr sz="1900" b="0" i="0">
                <a:solidFill>
                  <a:srgbClr val="47566B"/>
                </a:solidFill>
                <a:latin typeface="Calibri"/>
              </a:rPr>
              <a:t>Ключевая идея в том, чтобы собрать внутри команды всех необходимых экспертов, чтобы она могла самостоятельно пройти путь от идеи до результата, не передавая задачу последовательно из одного отдела в другой.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помогает такой команде вести всю работу в одном месте: планирование спринтов, компетенции по ролям (Star Map), зрелость процессов (Scrum/Kanban/SAFe), аналитику и релизы.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Стрим — несколько команд, один поток ценности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Стрим (поток ценности, Agile Release Train) объединяет 5 и более кросс-функциональных команд, которые вместе поставляют ценность заказчику.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16202E"/>
                </a:solidFill>
                <a:latin typeface="Calibri"/>
              </a:rPr>
              <a:t>У каждой команды свои бэклог, спринты, доска и метрики, но планируются и синхронизируются они вместе: общий бэклог фич, PI-планирование, межкомандные зависимости и риски.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l"/>
            <a:r>
              <a:rPr sz="1400" b="0" i="0">
                <a:solidFill>
                  <a:srgbClr val="47566B"/>
                </a:solidFill>
                <a:latin typeface="Calibri"/>
              </a:rPr>
              <a:t>Приложение ведёт каждую команду отдельно (своя схема данных) и собирает их в стрим: обзор стрима, фичи с WSJF, PI-доска, ROAM, Scrum of Scrums и System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Стримы 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Оргструктура «Стрим → Команда».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Переключатель «Стрим › Команда» в шапке — данные каждой команды отдельно.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Команда создаётся пустой или копией; импорт команды из JSON.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Команда управления: лидер, ИТ-лидер, архитектор, ПМ.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сервере — своя схема БД у каждой команды.</a:t>
            </a:r>
          </a:p>
        </p:txBody>
      </p:sp>
      <p:pic>
        <p:nvPicPr>
          <p:cNvPr id="6" name="Picture 5" descr="s_o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Мой день и быстрые действия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Стартовая страница и «＋ Создать».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Мои задачи спринта: статус меняется в один клик.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Блокеры, риски и события ближайших 14 дней.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«＋ Создать» — задача, баг, риск, фича из любого раздела.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Мастер «Новый стрим» и первые шаги для новой команды.</a:t>
            </a:r>
          </a:p>
        </p:txBody>
      </p:sp>
      <p:pic>
        <p:nvPicPr>
          <p:cNvPr id="6" name="Picture 5" descr="s_my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Простая навигация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23 пункта вместо 65 разделов — с вкладками.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Два уровня меню: «Стрим» и «Команда».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Родственные разделы — вкладки одного пункта.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 по всем разделам, ⭐ избранное, «Все разделы».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Открытый раздел строится сразу — переключение быстрое.</a:t>
            </a:r>
          </a:p>
        </p:txBody>
      </p:sp>
      <p:pic>
        <p:nvPicPr>
          <p:cNvPr id="6" name="Picture 5" descr="s_hu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Мой профиль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Кто я, моя работа, стримы и команды, настройки.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Привязка к участнику — с сервером во всех командах и на любом устройстве.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Мои задачи, баги, импедименты, риски, загрузка и отпуска.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Должности в команде управления, мои команды, фичи и ROAM.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Тема, плотность, стартовая страница и смена своего пароля.</a:t>
            </a:r>
          </a:p>
        </p:txBody>
      </p:sp>
      <p:pic>
        <p:nvPicPr>
          <p:cNvPr id="6" name="Picture 5" descr="s_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показатели стрима и каждой команды.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«Требует внимания»: риски срыва, перегруз, баги, конфликты, ROAM.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KPI: velocity, health, предсказуемость PI, фичи, burn-up, System Demo.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Вкладки: сводка, команды, поток, качество, люди, тренды.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формулы, что и на дашборде команды.</a:t>
            </a:r>
          </a:p>
        </p:txBody>
      </p:sp>
      <p:pic>
        <p:nvPicPr>
          <p:cNvPr id="6" name="Picture 5" descr="s_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Графики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Burn-up PI и velocity по итерациям.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Burn-up: объём историй фич PI, сделанное и идеальный темп.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Velocity каждой команды по итерациям 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текущего PI по WSJF с прогрессом.</a:t>
            </a:r>
          </a:p>
        </p:txBody>
      </p:sp>
      <p:pic>
        <p:nvPicPr>
          <p:cNvPr id="6" name="Picture 5" descr="s_cha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 стрима: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Тепловая матрица, карточки и панель команды.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Матрица: цвет ячейки — светофор показателя, сортировка.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Карточки: 6 главных показателей и тренд velocity.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Панель команды: причины риска и все показатели по группам.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«Открыть команду» — переход в её данные.</a:t>
            </a:r>
          </a:p>
        </p:txBody>
      </p:sp>
      <p:pic>
        <p:nvPicPr>
          <p:cNvPr id="6" name="Picture 5" descr="s_c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 стрима: поток, качество, люди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Срезы по итерациям — тренды стрима.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Поток: cycle time, WIP, say/do, загрузка, распределение работы.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Качество: баги по серьёзности, DRE, DoD, DORA, техдолг.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Люди: Health Check, настроение, SPOF, импедименты.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Тренды: срезы показателей по итерациям PI.</a:t>
            </a:r>
          </a:p>
        </p:txBody>
      </p:sp>
      <p:pic>
        <p:nvPicPr>
          <p:cNvPr id="6" name="Picture 5" descr="s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Фичи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Бэклог фич с WSJF — таблицей или канбаном.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WSJF = (BV + TC + RR) / размер; статус, PI,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Канбан: Воронка → Анализ → Бэклог → В работе → Готово.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«＋ История» — история фичи сразу в бэклоге нужной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Прогресс фичи — по статусам её историй в командах.</a:t>
            </a:r>
          </a:p>
        </p:txBody>
      </p:sp>
      <p:pic>
        <p:nvPicPr>
          <p:cNvPr id="6" name="Picture 5" descr="s_kanb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PI стрима: программная доска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Команды × итерации инкремента.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строится из историй фич автоматически.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Готовые фичи — зелёные, зависимости — 🔗 на доске.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Параметры PI: старт, число итераций, несколько PI.</a:t>
            </a:r>
          </a:p>
        </p:txBody>
      </p:sp>
      <p:pic>
        <p:nvPicPr>
          <p:cNvPr id="6" name="Picture 5" descr="s_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PI и межкомандные 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Предсказуемость и контроль сроков.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Цели команд с плановой и фактической бизнес-ценностью.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Предсказуемость PI = факт / план по обязательным целям.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Зависимости: кто ждёт, кто делает, к какой итерации.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Конфликт сроков и блокировки подсвечиваются красным.</a:t>
            </a:r>
          </a:p>
        </p:txBody>
      </p:sp>
      <p:pic>
        <p:nvPicPr>
          <p:cNvPr id="6" name="Picture 5" descr="s_de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 ROAM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Риски уровня стрима.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Resolved, Owned, Accepted, Mitigated — сводка по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Высокие риски команд переносятся одной кнопкой.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Владелец, срок и решение по каждому риску.</a:t>
            </a:r>
          </a:p>
        </p:txBody>
      </p:sp>
      <p:pic>
        <p:nvPicPr>
          <p:cNvPr id="6" name="Picture 5" descr="s_ro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 of Scrums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Синхронизация команд стрима.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Повестка формируется из данных команд автоматически.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Прогресс спринта, импедименты, блокеры, кому нужна помощь.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Открытые межкомандные зависимости под рукой.</a:t>
            </a:r>
          </a:p>
        </p:txBody>
      </p:sp>
      <p:pic>
        <p:nvPicPr>
          <p:cNvPr id="6" name="Picture 5" descr="s_s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Совместный показ стрима в конце итерации.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Повестка — фичи с готовыми в итерации историями.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Отзывы стейкхолдеров и итог «Принято / Доработать».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Доля принятых фич по PI.</a:t>
            </a:r>
          </a:p>
        </p:txBody>
      </p:sp>
      <p:pic>
        <p:nvPicPr>
          <p:cNvPr id="6" name="Picture 5" descr="s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Зрелость стрима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Практики стрима, голоса команд и факты.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10 измерений практик стрима с рубрикой из 5 уровней.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Команды голосуют, итог — команда управления стрима.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Индикаторы из данных и сверка «оценка ↔ факты».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Слабое звено, динамика по PI и бэклог улучшений.</a:t>
            </a:r>
          </a:p>
        </p:txBody>
      </p:sp>
      <p:pic>
        <p:nvPicPr>
          <p:cNvPr id="6" name="Picture 5" descr="s_matu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Что это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47566B"/>
                </a:solidFill>
                <a:latin typeface="Calibri"/>
              </a:rPr>
              <a:t>Единая среда для планирования по двухнедельным спринтам — от бэклога и оценок до аналитики и прогнозов. Всё пересчитывается автоматически при изменении данных.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Спринты и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Ёмкость, план, velocity, % выполнения — из состава команды и параметров.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53712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Задачи на шкале дат, критический путь, внешние зависимости.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205740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75903" y="224028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25856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RICE-приоритизация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8036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Оценка фич: (Reach × Impact × Confidence) / Effort.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Межстримовые зависимости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От чего зависим у смежных команд: статусы, риск, эскалация.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1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53712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Аналитика и прогнозы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Сгорание, CFD, cycle time, прогноз Монте-Карло, качество.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4389120"/>
            <a:ext cx="3538728" cy="2057400"/>
          </a:xfrm>
          <a:prstGeom prst="round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75903" y="4572000"/>
            <a:ext cx="502920" cy="502920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7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7" y="4590288"/>
            <a:ext cx="26243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6202E"/>
                </a:solidFill>
                <a:latin typeface="Calibri"/>
              </a:rPr>
              <a:t>Роли и доступ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212080"/>
            <a:ext cx="313639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47566B"/>
                </a:solidFill>
                <a:latin typeface="Calibri"/>
              </a:rPr>
              <a:t>Серверная авторизация: логин и роли в PostgreSQL.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Дашборд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Сводка проекта одним взглядом.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KPI с RAG-подсветкой: health, velocity, TTM, DoD, баги, остаток.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 «Что требует внимания»: блокеры, перегруз, критичные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Кликабельные карточки и sparkline-тренды.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Графики ёмкости, velocity, багов и Time to Market.</a:t>
            </a:r>
          </a:p>
        </p:txBody>
      </p:sp>
      <p:pic>
        <p:nvPicPr>
          <p:cNvPr id="6" name="Picture 5" descr="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Дорожная карта</a:t>
            </a:r>
          </a:p>
        </p:txBody>
      </p:sp>
      <p:pic>
        <p:nvPicPr>
          <p:cNvPr id="4" name="Picture 3" descr="road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Спринты считаются автоматически.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Даты, рабочие дни, ёмкость, план, velocity, % выполнения.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Источники — «Параметры» и состав «Команды».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Диаграмма процента выполнения по спринтам.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🗓️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Кварталы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Агрегация по календарным кварталам.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Ёмкость, план, velocity, загрузка и % по кварталам.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Квартальный roadmap: спринты на шкале дат.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Ключевые вехи подтягиваются автоматически.</a:t>
            </a:r>
          </a:p>
        </p:txBody>
      </p:sp>
      <p:pic>
        <p:nvPicPr>
          <p:cNvPr id="6" name="Picture 5" descr="quart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RICE — приоритизация</a:t>
            </a:r>
          </a:p>
        </p:txBody>
      </p:sp>
      <p:pic>
        <p:nvPicPr>
          <p:cNvPr id="4" name="Picture 3" descr="r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делать в первую очередь.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RICE = (Reach × Impact × Confidence) / Effort.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Авто-расчёт балла, ранга и приоритета (RAG).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Фичи выбираются напрямую из «Бэклога» — с автозаполнением и связью-ссылкой.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WSJF — приоритизация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Максимальная отдача на единицу усилий.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WSJF = Cost of Delay / Job Size (практика SAFe).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Cost of Delay = Business Value + Time Criticality + Risk Reduction.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Авто-расчёт Cost of Delay, WSJF-балла, ранга и приоритета.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Чем выше балл — тем раньше фичу берут в работу.</a:t>
            </a:r>
          </a:p>
        </p:txBody>
      </p:sp>
      <p:pic>
        <p:nvPicPr>
          <p:cNvPr id="7" name="Picture 6" descr="wsj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 спринтов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 обязательство на спринт.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Sprint Goal по каждому спринту — ценность, а не список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Статус: Запланирована / В работе / Достигнута / Не достигнута.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Столбец «% факт» считается автоматически по готовности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Текущая цель и её статус выводятся на дашборд.</a:t>
            </a:r>
          </a:p>
        </p:txBody>
      </p:sp>
      <p:pic>
        <p:nvPicPr>
          <p:cNvPr id="7" name="Picture 6" descr="sprintGoa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MoSCoW — приоритизация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Что обязательно, а что подождёт.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Доска из 4 колонок: Must / Should / Could / Won't.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Требования выбираются напрямую из «Бэклога» — с автозаполнением.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Правило баланса: доля Must ≤ ~60% ёмкости спринта.</a:t>
            </a:r>
          </a:p>
        </p:txBody>
      </p:sp>
      <p:pic>
        <p:nvPicPr>
          <p:cNvPr id="6" name="Picture 5" descr="mosc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интерактивный бесконечный холст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Совместная работа как в Miro.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Бесконечный холст: стикеры (с автором и голосованием), текст, фигуры, стрелки-связи, карандаш, изображения, фреймы.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Живая совместная работа: курсоры участников, присутствие «● вживую» и синхронизация в реальном времени (WebSocket); доска хранится в общей БД.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Интеграции Slack и Jira; фасилитация: таймер; экспорт доски в PNG и PDF.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Подробнее — на следующих пяти слайдах: эргономика, шаблоны, живые данные, сессии и схемы.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эргономика холста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Работа с холстом как в профессиональных редакторах.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и повтор (Ctrl+Z / Ctrl+Y), копировать, вставить и дублировать (Ctrl+C/V/D) — связи между копиями сохраняются.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Группы, закрепление 🔒, выравнивание и равномерное распределение, привязка к сетке.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Мини-карта и поиск по тексту (Ctrl+F); фрейм переносится вместе с содержимым.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Панель действий появляется при выделении — всё нужное под рукой.</a:t>
            </a:r>
          </a:p>
        </p:txBody>
      </p:sp>
      <p:pic>
        <p:nvPicPr>
          <p:cNvPr id="6" name="Picture 5" descr="board_er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шаблоны ритуалов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Готовая структура встречи одной кнопкой.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Ретро: Start/Stop/Continue, 4L, Mad/Sad/Glad, «Кораблик».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Анализ: Lean Coffee, SWOT, матрица «Влияние/Усилия», Premortem.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Продукт и процесс: Customer Journey Map, Lean Canvas, канбан-колонки, дорожки ответственности.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Шаблон двигается целиком вместе со стикерами; цвет стикера подсказывает колонку.</a:t>
            </a:r>
          </a:p>
        </p:txBody>
      </p:sp>
      <p:pic>
        <p:nvPicPr>
          <p:cNvPr id="6" name="Picture 5" descr="board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живые данные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Холст связан с бэклогом и метриками.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Карточки задач из бэклога: статус меняется кликом, двойной клик открывает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«Спринт на доску»: задачи текущего спринта по колонкам статусов.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Виджеты-метрики: velocity, выполнение и цель спринта, health-index, риск срыва, баги.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Стикер превращается в задачу, риск, импедимент, решение (ADR), action item или урок.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🗳️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проведение сессий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Фасилитация ретро и воркшопов.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Голосование точками: лимит на участника, скрытый режим, раскрытие итогов и медали лидеров.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Анонимный ввод: авторы стикеров скрыты до раскрытия.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Показ по фреймам как по слайдам и режим «следовать за ведущим».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Комментарии к элементам с @упоминаниями и сводка обсуждений.</a:t>
            </a:r>
          </a:p>
        </p:txBody>
      </p:sp>
      <p:pic>
        <p:nvPicPr>
          <p:cNvPr id="6" name="Picture 5" descr="board_s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Доска — схемы и диаграммы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Процессы, идеи и данные на одном холсте.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Блок-схемы: начало/конец, процесс, решение, ввод/вывод, документ, база данных; подписи стрелок.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Майнд-карта: Tab — ветка, Enter — соседняя, авто-раскладка в обе стороны.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Таблица на холсте и дорожки ответственности по ролям команды.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Авто-раскладка выделенного сеткой или деревом по связям.</a:t>
            </a:r>
          </a:p>
        </p:txBody>
      </p:sp>
      <p:pic>
        <p:nvPicPr>
          <p:cNvPr id="6" name="Picture 5" descr="board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🗃️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Kanban-доски по направлениям</a:t>
            </a:r>
          </a:p>
        </p:txBody>
      </p:sp>
      <p:pic>
        <p:nvPicPr>
          <p:cNvPr id="4" name="Picture 3" descr="kan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Отдельные доски: Backend, Frontend, Тестировщики, Аналитики и релизная.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досок по ролям + «Все задачи» и «Релизная доска».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Перетаскивание карточки меняет статус и даты; синхронно с Бэклогом, Гантом и аналитикой.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Администратор создаёт доски, переименовывает и добавляет колонки-статусы.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Релизная доска: состав и прогресс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Двусторонняя связь с разделом «Релизы».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 карточке релиза — его состав (стори, задачи, дефекты) и прогресс-бар готовности.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меняется перетаскиванием и синхронно отражается в «Релизах».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Подсказка «можно закрыть релиз», когда все задачи готовы.</a:t>
            </a:r>
          </a:p>
        </p:txBody>
      </p:sp>
      <p:pic>
        <p:nvPicPr>
          <p:cNvPr id="6" name="Picture 5" descr="kanban_rele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Состав релизов: ручное формирование</a:t>
            </a:r>
          </a:p>
        </p:txBody>
      </p:sp>
      <p:pic>
        <p:nvPicPr>
          <p:cNvPr id="4" name="Picture 3" descr="kanban_comp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Явная привязка задач к релизу перетаскиванием.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Колонки — релизы (+ «Без релиза»); задача перетаскивается в нужный релиз.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Поле «Релиз» у задачи в «Бэклоге» — альтернатива авто-расчёту; кнопка «＋ Релиз».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«Проверки данных» ловят пересечения и пропуски диапазонов спринтов.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Бэклог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Источник данных для всех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Редактируемые задачи: тип, оценка, статус, спринт.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Поиск, сортировка по колонкам, строка итогов.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Отмена удаления; зависимость выбирается из списка.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Диаграмма Ганта</a:t>
            </a:r>
          </a:p>
        </p:txBody>
      </p:sp>
      <p:pic>
        <p:nvPicPr>
          <p:cNvPr id="4" name="Picture 3" descr="gant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Задачи на шкале дат по спринтам.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Красная рамка — критический путь (CPM).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Ромбовидный маркер — внешняя зависимость от стрима.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Редактирование спринта и зависимостей на месте.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Гант по иерархии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Эпик → Фича → История → Задача на шкале.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Сводные полосы: сроки и прогресс по объёму потомков.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План по спринтам и факт по датам «начато / готово».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Просрочка и выход за спринт родителя — красным.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Уровни: эпики, до фич, до историй, всё.</a:t>
            </a:r>
          </a:p>
        </p:txBody>
      </p:sp>
      <p:pic>
        <p:nvPicPr>
          <p:cNvPr id="7" name="Picture 6" descr="s_hgant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Зависимости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Связи с другими стримами.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Задачи, истории и фичи, зависящие от смежных команд.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Направление, статус с RAG-подсветкой, риск, владелец.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Сводка по статусам/стримам и список для эскалации.</a:t>
            </a:r>
          </a:p>
        </p:txBody>
      </p:sp>
      <p:pic>
        <p:nvPicPr>
          <p:cNvPr id="6" name="Picture 5" descr="d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Программная доска (PI Planning)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Межкомандные зависимости на горизонте.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«стрим × спринт» (практика SAFe PI Planning).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⬅ мы зависим, ➡ зависят от нас, ◆ веха.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Цвет статуса: получено / ожидается / заблокировано.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ячейки — кандидаты на эскалацию.</a:t>
            </a:r>
          </a:p>
        </p:txBody>
      </p:sp>
      <p:pic>
        <p:nvPicPr>
          <p:cNvPr id="7" name="Picture 6" descr="pi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Контроль scope (scope creep)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Состав спринтов под контролем.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Журнал добавлений, переносов и удалений задач.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Базовый срез состава + сравнение с текущим.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Авто-переносы из «Бэклога» попадают в лог.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Контроль раздувания состава спринта/релиза.</a:t>
            </a:r>
          </a:p>
        </p:txBody>
      </p:sp>
      <p:pic>
        <p:nvPicPr>
          <p:cNvPr id="7" name="Picture 6" descr="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Команда</a:t>
            </a:r>
          </a:p>
        </p:txBody>
      </p:sp>
      <p:pic>
        <p:nvPicPr>
          <p:cNvPr id="4" name="Picture 3" descr="t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Основа расчёта ёмкости.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Состав команды и доступность каждого участника.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Из этого считается ёмкость каждого спринта.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Роли: Backend, Frontend, QA, DevOps, Analyst, Designer.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Релизы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Версии по диапазону спринтов.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Содержимое считается из «Бэклога» и «Багов».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Раскрытие строки в список стори, задач и дефектов.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Ссылки-переходы к задачам и багам релиза.</a:t>
            </a:r>
          </a:p>
        </p:txBody>
      </p:sp>
      <p:pic>
        <p:nvPicPr>
          <p:cNvPr id="6" name="Picture 5" descr="relea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FAQ — справка</a:t>
            </a:r>
          </a:p>
        </p:txBody>
      </p:sp>
      <p:pic>
        <p:nvPicPr>
          <p:cNvPr id="4" name="Picture 3" descr="fa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Ответы на частые вопросы.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Аккордеон вопросов с поиском по 4 категориям.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Редактируемая таблица: админ и редактор наполняют FAQ.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Те же данные выгружаются на лист FAQ в Excel.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Помощник (чат-бот)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Встроенный ассистент по приложению.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•  Знает все 56 разделов и функций: отвечает на вопрос о любом («что такое Гант», «зачем Bus factor»).</a:t>
            </a:r>
          </a:p>
          <a:p>
            <a:r>
              <a:t>•  Перечисляет разделы и блоки, рассказывает, что нового; отвечает по живым данным (velocity, баги, бюджет).</a:t>
            </a:r>
          </a:p>
          <a:p>
            <a:r>
              <a:t>•  Открывает нужный раздел и выполняет команды; работает офлайн. База знаний самообновляется после релиза.</a:t>
            </a:r>
          </a:p>
        </p:txBody>
      </p:sp>
      <p:pic>
        <p:nvPicPr>
          <p:cNvPr id="6" name="Picture 5" descr="ch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Журнал событий и логирование</a:t>
            </a:r>
          </a:p>
        </p:txBody>
      </p:sp>
      <p:pic>
        <p:nvPicPr>
          <p:cNvPr id="4" name="Picture 3" descr="aud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Все события — в отдельной базе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«История изменений» (версии приложения) — видна всем.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Полный журнал: вход, изменения, отказы доступа — администратору.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Логирование в отдельную БД, изолированно и отказоустойчиво.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Демо спринта (Sprint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Демонстрация инкремента заказчикам.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Что показывали, докладчик и участники; обратная связь.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Итог: принято / на доработку / отклонено (с KPI приёмки).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Результаты влияют на приоритеты бэклога и следующий спринт.</a:t>
            </a:r>
          </a:p>
        </p:txBody>
      </p:sp>
      <p:pic>
        <p:nvPicPr>
          <p:cNvPr id="6" name="Picture 5" descr="de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Отчёт-презентация по спринту (PPTX)</a:t>
            </a:r>
          </a:p>
        </p:txBody>
      </p:sp>
      <p:pic>
        <p:nvPicPr>
          <p:cNvPr id="4" name="Picture 3" descr="pptxdl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Готовый отчёт по спринту в один клик.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«📊 Отчёт» → выбор спринта: конкретный или весь проект.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Титул, ключевые метрики и все диаграммы приложения: аналитика (сгорание, CFD, cycle time, распределение, загрузка), риски, Гант, Исикава, OKR, RICE.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Для выбранного спринта — его метрики и список задач.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Star Map — компетенции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Карта навыков в привязке к ролям.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Радар-профиль каждого участника по компетенциям его роли (уровни 1–5).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Матрица компетенций по направлениям (Backend/Frontend/QA/DevOps/Analyst/Designer) с тепловой заливкой.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Кнопка «Обновить компетенции по ролям» формирует набор навыков автоматически; уровни редактируются.</a:t>
            </a:r>
          </a:p>
        </p:txBody>
      </p:sp>
      <p:pic>
        <p:nvPicPr>
          <p:cNvPr id="6" name="Picture 5" descr="star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Уровень Agile-зрелости</a:t>
            </a:r>
          </a:p>
        </p:txBody>
      </p:sp>
      <p:pic>
        <p:nvPicPr>
          <p:cNvPr id="4" name="Picture 3" descr="ag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Самооценка по Scrum, Kanban и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Вкладки по трём фреймворкам; для каждого — измерения на шкале 1–5 (Начальный…Оптимизирующий).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Сводный уровень, профиль-радар, слабое место и рекомендации к следующему уровню.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Оценки редактируются и сохраняются (в серверном режиме — в БД).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EDA отчёт — разведочный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«здоровья» всех данных приложения.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091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Объём и полнота датасетов, сводная числовая статистика (мин/макс/среднее/медиана/σ).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Распределения категорий, кросс-таблица «спринт × статус», аномалии и качество данных.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Печать/PDF; данные не нужно выгружать в Excel.</a:t>
            </a:r>
          </a:p>
        </p:txBody>
      </p:sp>
      <p:pic>
        <p:nvPicPr>
          <p:cNvPr id="6" name="Picture 5" descr="e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Интеграции со всеми продуктами Atlassian</a:t>
            </a:r>
          </a:p>
        </p:txBody>
      </p:sp>
      <p:pic>
        <p:nvPicPr>
          <p:cNvPr id="4" name="Picture 3" descr="integra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Единый каталог интеграций Atlassian.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Jira, Jira Service Management, Jira Product Discovery, Confluence, Compass, Bitbucket, Trello, Opsgenie, Statuspage, Bamboo.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Статус подключения по каждому продукту и проверка одним нажатием; действия выполняются на сервере.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•  Ключи задаются переменными окружения; Jira/JSM/JPD/Confluence/Compass используют один аккаунт Atlassian.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Вехи и технический долг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Контрольные точки и управление техдолгом.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Вехи: привязка к спринтам и релизам, статус.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Техдолг: реестр и тренд «создано / погашено» по спринтам.</a:t>
            </a:r>
          </a:p>
        </p:txBody>
      </p:sp>
      <p:pic>
        <p:nvPicPr>
          <p:cNvPr id="6" name="Picture 5" descr="milest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Вехи</a:t>
            </a:r>
          </a:p>
        </p:txBody>
      </p:sp>
      <p:pic>
        <p:nvPicPr>
          <p:cNvPr id="8" name="Picture 7" descr="deb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Технический долг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Единый расчётный движок метрик.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Сгорание, burn-up, CFD, cycle time (контрольная карта).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Распределение, загрузка по ролям, ёмкость по кварталам.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Прогноз Монте-Карло, предсказуемость (CV), DRE, качество.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KPI и сгорание</a:t>
            </a:r>
          </a:p>
        </p:txBody>
      </p:sp>
      <p:pic>
        <p:nvPicPr>
          <p:cNvPr id="8" name="Picture 7" descr="analytic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Cycle time и распределение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Оценка и анализ причин.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Балл = Вероятность × Влияние; уровень — авто.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Матрица рисков 5×5 с ранжированием.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Диаграмма Исикавы причин срыва сроков спринта.</a:t>
            </a:r>
          </a:p>
        </p:txBody>
      </p:sp>
      <p:pic>
        <p:nvPicPr>
          <p:cNvPr id="6" name="Picture 5" descr="ris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Матрица рисков</a:t>
            </a:r>
          </a:p>
        </p:txBody>
      </p:sp>
      <p:pic>
        <p:nvPicPr>
          <p:cNvPr id="8" name="Picture 7" descr="risks_ishikaw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Диаграмма Исикавы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Баги и ретроспективы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Качество и улучшение процесса.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Баги: серьёзность, статус, причина; питают метрику DRE.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Ретроспективы: итоги спринтов и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Процент закрытия action items по спринтам.</a:t>
            </a:r>
          </a:p>
        </p:txBody>
      </p:sp>
      <p:pic>
        <p:nvPicPr>
          <p:cNvPr id="6" name="Picture 5" descr="bug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Реестр багов</a:t>
            </a:r>
          </a:p>
        </p:txBody>
      </p:sp>
      <p:pic>
        <p:nvPicPr>
          <p:cNvPr id="8" name="Picture 7" descr="retr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Ретроспективы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⚙️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Цели, бюджет и настройки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Цели квартала, стоимость и базовые параметры.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OKR: цели и прогресс Key Results.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Бюджет: стоимость по ёмкости и накопленный расход.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Параметры: старт, focus factor, DoD; календарь праздников.</a:t>
            </a:r>
          </a:p>
        </p:txBody>
      </p:sp>
      <p:pic>
        <p:nvPicPr>
          <p:cNvPr id="6" name="Picture 5" descr="ok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OKR</a:t>
            </a:r>
          </a:p>
        </p:txBody>
      </p:sp>
      <p:pic>
        <p:nvPicPr>
          <p:cNvPr id="8" name="Picture 7" descr="budg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Бюджет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Роли и доступ (серверная авторизация)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Настоящая серверная авторизация и разграничение прав.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Вход по логину и паролю; роли хранятся в PostgreSQL (PBKDF2-хэши, bearer-сессии).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Права проверяются в Java на каждый запрос: чтение — любой вошедший, запись — Редактор/Администратор.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Администратор управляет учётными записями: добавление, смена роли и пароля, отключение, удаление.</a:t>
            </a:r>
          </a:p>
        </p:txBody>
      </p:sp>
      <p:pic>
        <p:nvPicPr>
          <p:cNvPr id="6" name="Picture 5" descr="log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Вход по логину и паролю</a:t>
            </a:r>
          </a:p>
        </p:txBody>
      </p:sp>
      <p:pic>
        <p:nvPicPr>
          <p:cNvPr id="8" name="Picture 7" descr="us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Управление ролями (администратор)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Scrum-церемонии: Дэйли и Груминг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Ежедневная синхронизация и подготовка бэклога.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Дэйли: что сделано вчера, план на сегодня и блокеры — по дням и участникам.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Груминг: оценка, декомпозиция, уточнение и приоритизация (Definition of Ready).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Вместе с «Демо» и «Ретроспективами» — полный набор Scrum-церемоний.</a:t>
            </a:r>
          </a:p>
        </p:txBody>
      </p:sp>
      <p:pic>
        <p:nvPicPr>
          <p:cNvPr id="6" name="Picture 5" descr="dail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Дэйли (Daily Standup)</a:t>
            </a:r>
          </a:p>
        </p:txBody>
      </p:sp>
      <p:pic>
        <p:nvPicPr>
          <p:cNvPr id="8" name="Picture 7" descr="groom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Груминг (Backlog Refinement)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Персонал: отпуска и дни рождения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Доступность команды и важные даты.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График отпусков: отпуска, больничные, отгулы и командировки — для учёта доступности.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Дни рождения: даты участников команды и ближайшие праздники.</a:t>
            </a:r>
          </a:p>
        </p:txBody>
      </p:sp>
      <p:pic>
        <p:nvPicPr>
          <p:cNvPr id="6" name="Picture 5" descr="vac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График отпусков</a:t>
            </a:r>
          </a:p>
        </p:txBody>
      </p:sp>
      <p:pic>
        <p:nvPicPr>
          <p:cNvPr id="8" name="Picture 7" descr="birthday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Дни рождения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Автоматизация планирования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Приложение берёт на себя рутину — от наполнения спринта до контроля качества 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Бэклог: приоритет (RICE/MoSCoW) и флаг готовности (DoR) прямо в задаче; авто-набор спринта по ёмкости.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Отпуска уменьшают ёмкость; итоги церемоний → задачи; циклы и конфликты зависимостей помечаются на Ганте.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Импорт из CSV/Jira, авто-предложение отчёта при завершении спринта; помощник выполняет команды.</a:t>
            </a:r>
          </a:p>
        </p:txBody>
      </p:sp>
      <p:pic>
        <p:nvPicPr>
          <p:cNvPr id="6" name="Picture 5" descr="backlo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Приоритет и DoR в задаче, авто-набор</a:t>
            </a:r>
          </a:p>
        </p:txBody>
      </p:sp>
      <p:pic>
        <p:nvPicPr>
          <p:cNvPr id="8" name="Picture 7" descr="chec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Проверки: целостность, циклы и конфликты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Ретроспективы: игровые практики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2D5BE3"/>
                </a:solidFill>
                <a:latin typeface="Calibri"/>
              </a:rPr>
              <a:t>Геймификация ретро для вовлечённости и реальных улучшений.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91056"/>
            <a:ext cx="1106424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Форматы (Start/Stop/Continue, Sailboat, 4L, Starfish, DAKI), dot-voting и стрик action items.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Настроение команды по спринтам, Kudos (благодарности) и эксперименты как проверяемые гипотезы.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47566B"/>
                </a:solidFill>
                <a:latin typeface="Calibri"/>
              </a:rPr>
              <a:t>•  Team Radar — радар-диаграмма самооценки команды по осям.</a:t>
            </a:r>
          </a:p>
        </p:txBody>
      </p:sp>
      <p:pic>
        <p:nvPicPr>
          <p:cNvPr id="6" name="Picture 5" descr="re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5138928" cy="28906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Форматы, голоса и стрик</a:t>
            </a:r>
          </a:p>
        </p:txBody>
      </p:sp>
      <p:pic>
        <p:nvPicPr>
          <p:cNvPr id="8" name="Picture 7" descr="retr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00400"/>
            <a:ext cx="5138928" cy="2890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9944" y="6136767"/>
            <a:ext cx="51389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0" i="0">
                <a:solidFill>
                  <a:srgbClr val="7A8AA0"/>
                </a:solidFill>
                <a:latin typeface="Calibri"/>
              </a:rPr>
              <a:t>Настроение, эксперименты и Team Radar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Архитектура и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D5BE3"/>
                </a:solidFill>
                <a:latin typeface="Calibri"/>
              </a:rPr>
              <a:t>Полиглот-архитектура с чёткой ролью каждого сервиса; всё поднимается через docker-compose.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442155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Java Spring Boot — REST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/state (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оптимистичная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блокировка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версий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), CRUD,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авторизация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Python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FastAPI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тот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же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движок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метрик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PostgreSQL (Flyway V1–V4) 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отдельная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БД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журнала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; WebSocket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/board —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живая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совместная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работа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над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доской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0" i="0" dirty="0">
                <a:solidFill>
                  <a:srgbClr val="47566B"/>
                </a:solidFill>
                <a:latin typeface="Calibri"/>
              </a:rPr>
              <a:t>•  CI (GitHub Actions):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тесты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Java (H2), Python (+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testcontainers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) и e2e; nginx 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проксирует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api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, /analytics и /</a:t>
            </a:r>
            <a:r>
              <a:rPr sz="1150" b="0" i="0" dirty="0" err="1">
                <a:solidFill>
                  <a:srgbClr val="47566B"/>
                </a:solidFill>
                <a:latin typeface="Calibri"/>
              </a:rPr>
              <a:t>ws</a:t>
            </a:r>
            <a:r>
              <a:rPr sz="1150" b="0" i="0" dirty="0">
                <a:solidFill>
                  <a:srgbClr val="47566B"/>
                </a:solidFill>
                <a:latin typeface="Calibri"/>
              </a:rPr>
              <a:t>.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EVM — освоенный объём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Прогноз сроков и бюджета.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PV/EV/AC, индексы CPI и SPI.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Прогноз EAC/ETC/VAC и S-кривая.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Отклонение от базового плана.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Раннее предупреждение по срокам и деньгам.</a:t>
            </a:r>
          </a:p>
        </p:txBody>
      </p:sp>
      <p:pic>
        <p:nvPicPr>
          <p:cNvPr id="7" name="Picture 6" descr="ev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Стейкхолдеры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Влияние, интерес, вовлечённость.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стейкхолдеров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Матрица «Влияние / Интерес».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Текущий и целевой уровень вовлечённости.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Стратегия и разрыв вовлечённости.</a:t>
            </a:r>
          </a:p>
        </p:txBody>
      </p:sp>
      <p:pic>
        <p:nvPicPr>
          <p:cNvPr id="7" name="Picture 6" descr="stakeh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Иерархия работ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Декомпозиция с роллапом.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Эпик → Фича → История → Задача.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Связь по полю «Родитель».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Суммирование объёма и прогресса снизу вверх.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Совокупный прогресс эпика.</a:t>
            </a:r>
          </a:p>
        </p:txBody>
      </p:sp>
      <p:pic>
        <p:nvPicPr>
          <p:cNvPr id="7" name="Picture 6" descr="w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Story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Срезы ценности по релизам.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Активности (путь) × релизы.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Верхняя полоса — MVP.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Планирование релизов срезами.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Сквозной пользовательский сценарий.</a:t>
            </a:r>
          </a:p>
        </p:txBody>
      </p:sp>
      <p:pic>
        <p:nvPicPr>
          <p:cNvPr id="7" name="Picture 6" descr="story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Planning Poker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Оценка и консенсус.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Голоса участников в Story Points.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Медиана, разброс, консенсус по Фибоначчи.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Большой разброс — обсудить задачу.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Применение оценки к задаче.</a:t>
            </a:r>
          </a:p>
        </p:txBody>
      </p:sp>
      <p:pic>
        <p:nvPicPr>
          <p:cNvPr id="7" name="Picture 6" descr="po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Портфель проектов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Обзор для PMO.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Несколько проектов: RAG, health.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Velocity, бюджет, прогресс.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Снимок текущего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Здоровье и бюджет портфеля.</a:t>
            </a:r>
          </a:p>
        </p:txBody>
      </p:sp>
      <p:pic>
        <p:nvPicPr>
          <p:cNvPr id="7" name="Picture 6" descr="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Статус-отчёт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Одной кнопкой.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Авто-отчёт RAG из данных проекта.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Метрики, цель, риски, сделанное.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Экспорт в Markdown.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Отправка в Slack.</a:t>
            </a:r>
          </a:p>
        </p:txBody>
      </p:sp>
      <p:pic>
        <p:nvPicPr>
          <p:cNvPr id="7" name="Picture 6" descr="status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DORA — производительность доставки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Производительность доставки.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Частота деплоев, Lead Time.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Change Failure Rate, MTTR.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Уровни Elite/High/Medium/Low.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Из деплоев и инцидентов.</a:t>
            </a:r>
          </a:p>
        </p:txBody>
      </p:sp>
      <p:pic>
        <p:nvPicPr>
          <p:cNvPr id="7" name="Picture 6" descr="do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Team 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Самочувствие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Модель Spotify Squad.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Светофор по измерениям.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Тренд ↑/→/↓.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Красные зоны — темы для ретро.</a:t>
            </a:r>
          </a:p>
        </p:txBody>
      </p:sp>
      <p:pic>
        <p:nvPicPr>
          <p:cNvPr id="7" name="Picture 6" descr="health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Bus factor / покрытие компетенций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Риск ключевого человека.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Носители каждого навыка (Star Map).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Одиночные точки отказа (SPOF).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Непокрытые навыки.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Цель: ≥ 2 носителя на навык.</a:t>
            </a:r>
          </a:p>
        </p:txBody>
      </p:sp>
      <p:pic>
        <p:nvPicPr>
          <p:cNvPr id="7" name="Picture 6" descr="busfa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800" b="0" i="0">
                <a:solidFill>
                  <a:srgbClr val="16202E"/>
                </a:solidFill>
                <a:latin typeface="Calibri"/>
              </a:rPr>
              <a:t>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420624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6202E"/>
                </a:solidFill>
                <a:latin typeface="Calibri"/>
              </a:rPr>
              <a:t>Инциденты и постмортемы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325880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2D5BE3"/>
                </a:solidFill>
                <a:latin typeface="Calibri"/>
              </a:rPr>
              <a:t>Надёжность в проде.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8288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Реестр прод-инцидентов.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Время восстановления (MTTR).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Постмортемы и действия.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47566B"/>
                </a:solidFill>
                <a:latin typeface="Calibri"/>
              </a:rPr>
              <a:t>Питает DORA (MTTR/CFR).</a:t>
            </a:r>
          </a:p>
        </p:txBody>
      </p:sp>
      <p:pic>
        <p:nvPicPr>
          <p:cNvPr id="7" name="Picture 6" descr="incid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49224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6583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 i="0">
                <a:solidFill>
                  <a:srgbClr val="AFC2E6"/>
                </a:solidFill>
                <a:latin typeface="Calibri"/>
              </a:rPr>
              <a:t>Единый инструмент для стримов из нескольких команд: от бэклога каждой команды до PI-планирования стрима — с общей БД и понятной архитектурой.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31720"/>
            <a:ext cx="658368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Стримы и команды: своя схема данных, роли на стрим и команду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Уровень стрима: дашборд, фичи, PI-доска, ROAM, SoS, System Demo, зрелость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Для каждой команды — Kanban, RICE, церемонии, доска и 50+ разделов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Совместная доска в реальном времени — своя у каждой команды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Роли в PostgreSQL, проверка прав в Java и Python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FE0FF"/>
                </a:solidFill>
                <a:latin typeface="Calibri"/>
              </a:rPr>
              <a:t>•  Java + Python + PostgreSQL, CI и docker-compose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5394960"/>
            <a:ext cx="6675120" cy="603504"/>
          </a:xfrm>
          <a:prstGeom prst="roundRect">
            <a:avLst/>
          </a:prstGeom>
          <a:solidFill>
            <a:srgbClr val="1E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350" b="1" i="0">
                <a:solidFill>
                  <a:srgbClr val="CFE0FF"/>
                </a:solidFill>
                <a:latin typeface="Calibri"/>
              </a:rPr>
              <a:t>github.com/neoandrey1985/Upravlenie-streamami</a:t>
            </a:r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4069080" cy="2288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4341</Words>
  <Application>Microsoft Office PowerPoint</Application>
  <PresentationFormat>Широкоэкранный</PresentationFormat>
  <Paragraphs>381</Paragraphs>
  <Slides>49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Агафонов</cp:lastModifiedBy>
  <cp:revision>2</cp:revision>
  <dcterms:created xsi:type="dcterms:W3CDTF">2013-01-27T09:14:16Z</dcterms:created>
  <dcterms:modified xsi:type="dcterms:W3CDTF">2026-10-06T07:28:01Z</dcterms:modified>
  <cp:category/>
</cp:coreProperties>
</file>